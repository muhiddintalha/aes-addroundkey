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</p:sldMasterIdLst>
  <p:notesMasterIdLst>
    <p:notesMasterId r:id="rId13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0D68C-9C8F-4E64-8DC5-12D7EE404586}" type="datetimeFigureOut">
              <a:rPr lang="tr-TR" smtClean="0"/>
              <a:t>1.02.2026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2870F-7FAE-4BAD-88E2-B6D74CDECFD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3015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851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28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23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315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22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13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9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86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331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3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62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38486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04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67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09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7426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112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91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2050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  <p:sldLayoutId id="2147483819" r:id="rId17"/>
    <p:sldLayoutId id="2147483820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8AB1561-4FBB-D0C8-1C82-D09E1878D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3793" y="696724"/>
            <a:ext cx="9600217" cy="3157585"/>
          </a:xfrm>
        </p:spPr>
        <p:txBody>
          <a:bodyPr>
            <a:normAutofit/>
          </a:bodyPr>
          <a:lstStyle/>
          <a:p>
            <a:pPr algn="l"/>
            <a:r>
              <a:rPr lang="tr-TR" sz="6700" dirty="0" err="1"/>
              <a:t>AES</a:t>
            </a:r>
            <a:r>
              <a:rPr lang="tr-TR" sz="6700" dirty="0"/>
              <a:t> </a:t>
            </a:r>
            <a:r>
              <a:rPr lang="tr-TR" sz="6700" dirty="0" err="1"/>
              <a:t>AddRoundKey</a:t>
            </a:r>
            <a:r>
              <a:rPr lang="tr-TR" sz="6700" dirty="0"/>
              <a:t> İşleminin Uygulanması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4F3A2917-276B-C82C-23B5-5512A30F5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3794" y="4872767"/>
            <a:ext cx="9600217" cy="1424165"/>
          </a:xfrm>
        </p:spPr>
        <p:txBody>
          <a:bodyPr>
            <a:normAutofit/>
          </a:bodyPr>
          <a:lstStyle/>
          <a:p>
            <a:pPr algn="l"/>
            <a:r>
              <a:rPr lang="tr-TR" sz="3200" b="1" dirty="0"/>
              <a:t>Muhiddin Talha YILMAZ - 24083002 </a:t>
            </a:r>
          </a:p>
          <a:p>
            <a:pPr algn="l"/>
            <a:r>
              <a:rPr lang="tr-TR" sz="3200" b="1" dirty="0"/>
              <a:t>Bilgi Güvenliği ve Siber Güvenlik Temelleri</a:t>
            </a:r>
          </a:p>
        </p:txBody>
      </p:sp>
    </p:spTree>
    <p:extLst>
      <p:ext uri="{BB962C8B-B14F-4D97-AF65-F5344CB8AC3E}">
        <p14:creationId xmlns:p14="http://schemas.microsoft.com/office/powerpoint/2010/main" val="10289143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7B46D4-A0A2-6B9C-6FDB-17D2BD57B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Amaç ve İçerik Akışı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780962-A6ED-4157-FCB5-D0612268A7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512471"/>
            <a:ext cx="1141851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AES’in</a:t>
            </a:r>
            <a:r>
              <a:rPr kumimoji="0" lang="tr-TR" altLang="tr-T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blok şifreleme mantığı (128-bit / 16 bayt blok)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State’in</a:t>
            </a:r>
            <a:r>
              <a:rPr kumimoji="0" lang="tr-TR" altLang="tr-T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4×4 bayt matrisi olarak gösterimi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XOR</a:t>
            </a:r>
            <a:r>
              <a:rPr kumimoji="0" lang="tr-TR" altLang="tr-T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(⊕) operatörü ve </a:t>
            </a:r>
            <a:r>
              <a:rPr kumimoji="0" lang="tr-TR" altLang="tr-TR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tersinirlik</a:t>
            </a:r>
            <a:r>
              <a:rPr kumimoji="0" lang="tr-TR" altLang="tr-T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özelliği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AddRoundKey</a:t>
            </a:r>
            <a:r>
              <a:rPr kumimoji="0" lang="tr-TR" altLang="tr-T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işleminin </a:t>
            </a:r>
            <a:r>
              <a:rPr kumimoji="0" lang="tr-TR" altLang="tr-TR" sz="30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kumimoji="0" lang="tr-TR" altLang="tr-TR" sz="3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3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⊕</a:t>
            </a:r>
            <a:r>
              <a:rPr kumimoji="0" lang="tr-TR" altLang="tr-TR" sz="3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30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round</a:t>
            </a:r>
            <a:r>
              <a:rPr kumimoji="0" lang="tr-TR" altLang="tr-TR" sz="3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3000" b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</a:t>
            </a:r>
            <a:r>
              <a:rPr kumimoji="0" lang="tr-TR" altLang="tr-TR" sz="30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şeklinde uygulanması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Örnek veri ile çıktı + kısa Python kodu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3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AddRoundKey</a:t>
            </a:r>
            <a:r>
              <a:rPr kumimoji="0" lang="tr-TR" altLang="tr-TR" sz="3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adımının örnek ve kod ile doğrulanması</a:t>
            </a:r>
          </a:p>
        </p:txBody>
      </p:sp>
    </p:spTree>
    <p:extLst>
      <p:ext uri="{BB962C8B-B14F-4D97-AF65-F5344CB8AC3E}">
        <p14:creationId xmlns:p14="http://schemas.microsoft.com/office/powerpoint/2010/main" val="3309106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E930AC2-D169-E944-957F-04F1E25E2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err="1"/>
              <a:t>AES’in</a:t>
            </a:r>
            <a:r>
              <a:rPr lang="tr-TR" dirty="0"/>
              <a:t> Blok Şifreleme Mantığı</a:t>
            </a:r>
            <a:br>
              <a:rPr lang="tr-TR" dirty="0"/>
            </a:br>
            <a:r>
              <a:rPr lang="tr-TR" dirty="0"/>
              <a:t> (128-bit / 16 bayt blok)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895578-51FE-3168-8CD8-6F005663D8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377882"/>
            <a:ext cx="1031083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AES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simetrik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bir şifreleme algoritmasıdır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(şifreleme ve çözmede anahtar kullanılır).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 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128-bit = 16 bayt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bloklar halinde işlenir.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16 bayt, her turda (</a:t>
            </a: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round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birkaç adımla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dönüştürülerek şifrelenir.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Görseldeki akışta 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AddRoundKey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verinin 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anahtarla 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XOR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(⊕)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yaparak karıştığı adımdır.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AES-128’te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 işlemler 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 tur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boyunca tekrarlanır.</a:t>
            </a:r>
          </a:p>
        </p:txBody>
      </p:sp>
    </p:spTree>
    <p:extLst>
      <p:ext uri="{BB962C8B-B14F-4D97-AF65-F5344CB8AC3E}">
        <p14:creationId xmlns:p14="http://schemas.microsoft.com/office/powerpoint/2010/main" val="299647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4000" b="1" dirty="0" err="1"/>
              <a:t>AES</a:t>
            </a:r>
            <a:r>
              <a:rPr lang="tr-TR" sz="4000" b="1" dirty="0"/>
              <a:t> Tur Yapısı (</a:t>
            </a:r>
            <a:r>
              <a:rPr lang="tr-TR" sz="4000" b="1" dirty="0" err="1"/>
              <a:t>Round</a:t>
            </a:r>
            <a:r>
              <a:rPr lang="tr-TR" sz="4000" b="1" dirty="0"/>
              <a:t> Akışı)</a:t>
            </a:r>
            <a:endParaRPr lang="en-US" sz="3733" b="1" dirty="0"/>
          </a:p>
        </p:txBody>
      </p:sp>
      <p:sp>
        <p:nvSpPr>
          <p:cNvPr id="3" name="Shape 1"/>
          <p:cNvSpPr/>
          <p:nvPr/>
        </p:nvSpPr>
        <p:spPr>
          <a:xfrm>
            <a:off x="914400" y="1706880"/>
            <a:ext cx="1463040" cy="731520"/>
          </a:xfrm>
          <a:prstGeom prst="roundRect">
            <a:avLst>
              <a:gd name="adj" fmla="val 1666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4" name="Text 2"/>
          <p:cNvSpPr/>
          <p:nvPr/>
        </p:nvSpPr>
        <p:spPr>
          <a:xfrm>
            <a:off x="914400" y="1706880"/>
            <a:ext cx="146304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AddRoundKey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377440" y="1926336"/>
            <a:ext cx="487680" cy="243840"/>
          </a:xfrm>
          <a:prstGeom prst="rightArrow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6" name="Shape 4"/>
          <p:cNvSpPr/>
          <p:nvPr/>
        </p:nvSpPr>
        <p:spPr>
          <a:xfrm>
            <a:off x="2987040" y="1706880"/>
            <a:ext cx="1463040" cy="731520"/>
          </a:xfrm>
          <a:prstGeom prst="roundRect">
            <a:avLst>
              <a:gd name="adj" fmla="val 1666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7" name="Text 5"/>
          <p:cNvSpPr/>
          <p:nvPr/>
        </p:nvSpPr>
        <p:spPr>
          <a:xfrm>
            <a:off x="2987040" y="1706880"/>
            <a:ext cx="146304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SubBytes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50080" y="1926336"/>
            <a:ext cx="487680" cy="243840"/>
          </a:xfrm>
          <a:prstGeom prst="rightArrow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9" name="Shape 7"/>
          <p:cNvSpPr/>
          <p:nvPr/>
        </p:nvSpPr>
        <p:spPr>
          <a:xfrm>
            <a:off x="5059680" y="1706880"/>
            <a:ext cx="1463040" cy="731520"/>
          </a:xfrm>
          <a:prstGeom prst="roundRect">
            <a:avLst>
              <a:gd name="adj" fmla="val 1666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0" name="Text 8"/>
          <p:cNvSpPr/>
          <p:nvPr/>
        </p:nvSpPr>
        <p:spPr>
          <a:xfrm>
            <a:off x="5059680" y="1706880"/>
            <a:ext cx="146304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ShiftRows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22720" y="1926336"/>
            <a:ext cx="487680" cy="243840"/>
          </a:xfrm>
          <a:prstGeom prst="rightArrow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2" name="Shape 10"/>
          <p:cNvSpPr/>
          <p:nvPr/>
        </p:nvSpPr>
        <p:spPr>
          <a:xfrm>
            <a:off x="7132320" y="1706880"/>
            <a:ext cx="1463040" cy="731520"/>
          </a:xfrm>
          <a:prstGeom prst="roundRect">
            <a:avLst>
              <a:gd name="adj" fmla="val 1666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3" name="Text 11"/>
          <p:cNvSpPr/>
          <p:nvPr/>
        </p:nvSpPr>
        <p:spPr>
          <a:xfrm>
            <a:off x="7132320" y="1706880"/>
            <a:ext cx="146304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00" b="1" dirty="0" err="1">
                <a:solidFill>
                  <a:srgbClr val="FFFFFF"/>
                </a:solidFill>
              </a:rPr>
              <a:t>MixColum</a:t>
            </a:r>
            <a:r>
              <a:rPr lang="tr-TR" sz="1500" b="1" dirty="0">
                <a:solidFill>
                  <a:srgbClr val="FFFFFF"/>
                </a:solidFill>
              </a:rPr>
              <a:t>n</a:t>
            </a:r>
            <a:r>
              <a:rPr lang="en-US" sz="1500" b="1" dirty="0">
                <a:solidFill>
                  <a:srgbClr val="FFFFFF"/>
                </a:solidFill>
              </a:rPr>
              <a:t>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595360" y="1926336"/>
            <a:ext cx="487680" cy="243840"/>
          </a:xfrm>
          <a:prstGeom prst="rightArrow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5" name="Shape 13"/>
          <p:cNvSpPr/>
          <p:nvPr/>
        </p:nvSpPr>
        <p:spPr>
          <a:xfrm>
            <a:off x="9204960" y="1706880"/>
            <a:ext cx="1463040" cy="731520"/>
          </a:xfrm>
          <a:prstGeom prst="roundRect">
            <a:avLst>
              <a:gd name="adj" fmla="val 16667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6" name="Text 14"/>
          <p:cNvSpPr/>
          <p:nvPr/>
        </p:nvSpPr>
        <p:spPr>
          <a:xfrm>
            <a:off x="9204960" y="1706880"/>
            <a:ext cx="1463040" cy="707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AddRoundKey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9600" y="2926080"/>
            <a:ext cx="115824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AES, 128-bit blokları 10 tur (round) boyunca işleyen simetrik bir şifreleme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algoritmasıdır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tr-TR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Her tur; AddRoundKey, SubBytes, ShiftRows, MixColumns gibi adımlardan oluşur.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AddRoundKey, veriyi gizlemek için her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turda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tr-TR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farklı bir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tur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anahtar</a:t>
            </a:r>
            <a:r>
              <a:rPr lang="tr-TR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ı kullanarak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State ile XOR’layarak </a:t>
            </a:r>
            <a:r>
              <a:rPr lang="en-US" sz="28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karıştırır</a:t>
            </a: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tr-TR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tr-TR" sz="2800" b="1" dirty="0"/>
              <a:t>Not:</a:t>
            </a:r>
            <a:r>
              <a:rPr lang="tr-TR" sz="2800" dirty="0"/>
              <a:t> Bu akış 1–9. turların tipik yapısıdır. </a:t>
            </a:r>
            <a:r>
              <a:rPr lang="tr-TR" sz="2800" b="1" dirty="0"/>
              <a:t>Son turda </a:t>
            </a:r>
            <a:r>
              <a:rPr lang="tr-TR" sz="2800" b="1" dirty="0" err="1"/>
              <a:t>MixColumns</a:t>
            </a:r>
            <a:r>
              <a:rPr lang="tr-TR" sz="2800" b="1" dirty="0"/>
              <a:t> uygulanmaz.</a:t>
            </a:r>
            <a:r>
              <a:rPr lang="tr-TR" sz="2800" dirty="0"/>
              <a:t> Ayrıca şifrelemenin başında bir kere </a:t>
            </a:r>
            <a:r>
              <a:rPr lang="tr-TR" sz="2800" dirty="0" err="1"/>
              <a:t>AddRoundKey</a:t>
            </a:r>
            <a:r>
              <a:rPr lang="tr-TR" sz="2800" dirty="0"/>
              <a:t> </a:t>
            </a:r>
            <a:r>
              <a:rPr lang="tr-TR" sz="2800"/>
              <a:t>yapılır.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912F60D-905E-CA29-FBCD-06D41F099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err="1"/>
              <a:t>AES’te</a:t>
            </a:r>
            <a:r>
              <a:rPr lang="tr-TR" dirty="0"/>
              <a:t> Veri Yapısı: </a:t>
            </a:r>
            <a:r>
              <a:rPr lang="tr-TR" dirty="0" err="1"/>
              <a:t>State</a:t>
            </a:r>
            <a:r>
              <a:rPr lang="tr-TR" dirty="0"/>
              <a:t> (4×4 Bayt)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7348D87-E55B-A837-E6C8-2B1E181D5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6850" y="2463800"/>
            <a:ext cx="9247652" cy="3327400"/>
          </a:xfrm>
        </p:spPr>
        <p:txBody>
          <a:bodyPr>
            <a:normAutofit lnSpcReduction="10000"/>
          </a:bodyPr>
          <a:lstStyle/>
          <a:p>
            <a:r>
              <a:rPr lang="tr-TR" sz="2400" dirty="0" err="1"/>
              <a:t>AES</a:t>
            </a:r>
            <a:r>
              <a:rPr lang="tr-TR" sz="2400" dirty="0"/>
              <a:t>, bir seferde </a:t>
            </a:r>
            <a:r>
              <a:rPr lang="tr-TR" sz="2400" b="1" dirty="0"/>
              <a:t>128-bit = 16 bayt</a:t>
            </a:r>
            <a:r>
              <a:rPr lang="tr-TR" sz="2400" dirty="0"/>
              <a:t> veri üzerinde çalışır.</a:t>
            </a:r>
          </a:p>
          <a:p>
            <a:r>
              <a:rPr lang="tr-TR" sz="2400" dirty="0"/>
              <a:t>Bu 16 bayt, 4×4 bayt tablosu olarak gösterilir ve bu yapıya </a:t>
            </a:r>
            <a:r>
              <a:rPr lang="tr-TR" sz="2400" dirty="0" err="1"/>
              <a:t>State</a:t>
            </a:r>
            <a:r>
              <a:rPr lang="tr-TR" sz="2400" dirty="0"/>
              <a:t> denir.</a:t>
            </a:r>
          </a:p>
          <a:p>
            <a:r>
              <a:rPr lang="tr-TR" sz="2400" dirty="0" err="1"/>
              <a:t>AddRoundKey</a:t>
            </a:r>
            <a:r>
              <a:rPr lang="tr-TR" sz="2400" dirty="0"/>
              <a:t> adımı: </a:t>
            </a:r>
            <a:r>
              <a:rPr lang="tr-TR" sz="2400" dirty="0" err="1"/>
              <a:t>State’teki</a:t>
            </a:r>
            <a:r>
              <a:rPr lang="tr-TR" sz="2400" dirty="0"/>
              <a:t> her bayt, tur anahtarındaki karşılığıyla </a:t>
            </a:r>
            <a:r>
              <a:rPr lang="tr-TR" sz="2400" b="1" dirty="0" err="1"/>
              <a:t>XOR</a:t>
            </a:r>
            <a:r>
              <a:rPr lang="tr-TR" sz="2400" b="1" dirty="0"/>
              <a:t> (⊕)</a:t>
            </a:r>
            <a:r>
              <a:rPr lang="tr-TR" sz="2400" dirty="0"/>
              <a:t> yapılır.</a:t>
            </a:r>
          </a:p>
          <a:p>
            <a:r>
              <a:rPr lang="tr-TR" sz="2400" b="1" dirty="0"/>
              <a:t>Kısa formül:</a:t>
            </a:r>
            <a:br>
              <a:rPr lang="tr-TR" sz="2400" dirty="0"/>
            </a:br>
            <a:r>
              <a:rPr lang="tr-TR" sz="2400" b="1" dirty="0" err="1"/>
              <a:t>State</a:t>
            </a:r>
            <a:r>
              <a:rPr lang="tr-TR" sz="2400" b="1" dirty="0"/>
              <a:t>’ (yeni </a:t>
            </a:r>
            <a:r>
              <a:rPr lang="tr-TR" sz="2400" b="1" dirty="0" err="1"/>
              <a:t>state</a:t>
            </a:r>
            <a:r>
              <a:rPr lang="tr-TR" sz="2400" b="1" dirty="0"/>
              <a:t>) = </a:t>
            </a:r>
            <a:r>
              <a:rPr lang="tr-TR" sz="2400" b="1" dirty="0" err="1"/>
              <a:t>State</a:t>
            </a:r>
            <a:r>
              <a:rPr lang="tr-TR" sz="2400" b="1" dirty="0"/>
              <a:t> ⊕ </a:t>
            </a:r>
            <a:r>
              <a:rPr lang="tr-TR" sz="2400" b="1" dirty="0" err="1"/>
              <a:t>RoundKey</a:t>
            </a:r>
            <a:endParaRPr lang="tr-TR" sz="2400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0838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974B7B1-CC7E-D600-8A4B-8EC5679E5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XOR</a:t>
            </a:r>
            <a:r>
              <a:rPr lang="tr-TR" dirty="0"/>
              <a:t> (⊕) İşlemi: En Temel Mantık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7303ED-CCFA-F6D4-C966-D1CE9C9AA0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1927696"/>
            <a:ext cx="9831922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XOR</a:t>
            </a:r>
            <a:r>
              <a:rPr kumimoji="0" lang="tr-TR" altLang="tr-T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(⊕) iki değeri karıştıran basit bir işlemdir.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Kural:</a:t>
            </a:r>
            <a:r>
              <a:rPr kumimoji="0" lang="tr-TR" altLang="tr-T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Aynıysa </a:t>
            </a:r>
            <a:r>
              <a:rPr kumimoji="0" lang="tr-TR" altLang="tr-T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</a:t>
            </a:r>
            <a:r>
              <a:rPr kumimoji="0" lang="tr-TR" altLang="tr-T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farklıysa </a:t>
            </a:r>
            <a:r>
              <a:rPr kumimoji="0" lang="tr-TR" altLang="tr-T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</a:t>
            </a:r>
            <a:r>
              <a:rPr kumimoji="0" lang="tr-TR" altLang="tr-T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tr-TR" altLang="tr-TR" sz="3200" dirty="0"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⊕ 0 =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0 ⊕ 1 =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⊕ 0 =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⊕ 1 =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önemli özellik:</a:t>
            </a:r>
            <a:r>
              <a:rPr kumimoji="0" lang="tr-TR" altLang="tr-T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 ⊕ K) ⊕ K = A</a:t>
            </a:r>
            <a:br>
              <a:rPr kumimoji="0" lang="tr-TR" altLang="tr-T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tr-TR" altLang="tr-T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(Aynı anahtarla tekrar </a:t>
            </a:r>
            <a:r>
              <a:rPr kumimoji="0" lang="tr-TR" altLang="tr-TR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XOR</a:t>
            </a:r>
            <a:r>
              <a:rPr kumimoji="0" lang="tr-TR" altLang="tr-T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yapılınca veri geri döner.)</a:t>
            </a:r>
          </a:p>
        </p:txBody>
      </p:sp>
    </p:spTree>
    <p:extLst>
      <p:ext uri="{BB962C8B-B14F-4D97-AF65-F5344CB8AC3E}">
        <p14:creationId xmlns:p14="http://schemas.microsoft.com/office/powerpoint/2010/main" val="134462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C645F2B-4D8A-485B-E39D-8B4A0252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AddRoundKey</a:t>
            </a:r>
            <a:r>
              <a:rPr lang="tr-TR" dirty="0"/>
              <a:t> İşlemi </a:t>
            </a:r>
            <a:br>
              <a:rPr lang="tr-TR" dirty="0"/>
            </a:br>
            <a:r>
              <a:rPr lang="tr-TR" dirty="0"/>
              <a:t>(</a:t>
            </a:r>
            <a:r>
              <a:rPr lang="tr-TR" dirty="0" err="1"/>
              <a:t>State</a:t>
            </a:r>
            <a:r>
              <a:rPr lang="tr-TR" dirty="0"/>
              <a:t> ⊕ </a:t>
            </a:r>
            <a:r>
              <a:rPr lang="tr-TR" dirty="0" err="1"/>
              <a:t>RoundKey</a:t>
            </a:r>
            <a:r>
              <a:rPr lang="tr-TR" dirty="0"/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C53A55-1854-5656-7BB2-EF6F36B692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604804"/>
            <a:ext cx="1127820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AddRoundKey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AES’te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anahtarın veriye doğrudan karıştığı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adımdır.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Girdi: 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(16 bayt)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 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RoundKey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(16 bayt)</a:t>
            </a:r>
            <a:endParaRPr kumimoji="0" lang="tr-TR" altLang="tr-T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İşlem: Her bayt için 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’[i] = 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[i] ⊕ 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RoundKey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[i]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(i = 0…15)</a:t>
            </a:r>
            <a:endParaRPr kumimoji="0" lang="tr-TR" altLang="tr-T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Çıktı: 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’ (yeni 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tr-TR" altLang="tr-T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XOR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kendi tersidir: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tr-TR" altLang="tr-TR" sz="2800" dirty="0"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⊕ 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RoundKey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⊕ 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RoundKey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endParaRPr kumimoji="0" lang="tr-TR" altLang="tr-T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188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63CB9C9-2D4D-1A2E-5403-2142D49B9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Mini Örnek: 3 Adımda Hesaplama</a:t>
            </a:r>
            <a:endParaRPr lang="tr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BFC955-D082-B41E-330D-D672D47826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389360"/>
            <a:ext cx="11444159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hex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00 11 22 33 44 55 66 77 88 99 AA </a:t>
            </a: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BB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CC DD </a:t>
            </a: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EE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FF</a:t>
            </a:r>
            <a:endParaRPr kumimoji="0" lang="tr-TR" altLang="tr-T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RoundKey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hex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00 01 02 03 04 05 06 07 08 09 </a:t>
            </a: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0A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0B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0C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0D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0E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0F</a:t>
            </a:r>
            <a:endParaRPr kumimoji="0" lang="tr-TR" altLang="tr-T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bayt örneği:</a:t>
            </a:r>
            <a:endParaRPr kumimoji="0" lang="tr-TR" altLang="tr-T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00 ⊕ 00 = 00</a:t>
            </a:r>
            <a:endParaRPr kumimoji="0" lang="tr-TR" altLang="tr-T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11 ⊕ 01 = 10</a:t>
            </a:r>
            <a:endParaRPr kumimoji="0" lang="tr-TR" altLang="tr-T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22 ⊕ 02 = 20</a:t>
            </a:r>
            <a:endParaRPr kumimoji="0" lang="tr-TR" altLang="tr-T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Çıktı (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’):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00 10 20 30 40 50 60 70 80 90 </a:t>
            </a: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A0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B0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C0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D0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E0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F0</a:t>
            </a:r>
            <a:endParaRPr kumimoji="0" lang="tr-TR" altLang="tr-T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578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9EEA187-1017-4954-D03E-07D863957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44" y="554111"/>
            <a:ext cx="10353761" cy="1208334"/>
          </a:xfrm>
        </p:spPr>
        <p:txBody>
          <a:bodyPr/>
          <a:lstStyle/>
          <a:p>
            <a:r>
              <a:rPr lang="tr-TR" dirty="0"/>
              <a:t>Kısa Python Kod Gösterimi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221A8AC-7307-65E7-2D6A-1673BB1EC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651819"/>
            <a:ext cx="10353762" cy="506361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pic>
        <p:nvPicPr>
          <p:cNvPr id="5" name="Resim 4" descr="metin, ekran görüntüsü, yazı tipi, yazılım içeren bir resim">
            <a:extLst>
              <a:ext uri="{FF2B5EF4-FFF2-40B4-BE49-F238E27FC236}">
                <a16:creationId xmlns:a16="http://schemas.microsoft.com/office/drawing/2014/main" id="{E5979555-762B-FF10-33C1-45DA3B3D8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94" y="1651819"/>
            <a:ext cx="7592485" cy="3000794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B36512AA-266E-20BC-5184-91EC6E1D6DA6}"/>
              </a:ext>
            </a:extLst>
          </p:cNvPr>
          <p:cNvSpPr txBox="1"/>
          <p:nvPr/>
        </p:nvSpPr>
        <p:spPr>
          <a:xfrm>
            <a:off x="1393313" y="5475647"/>
            <a:ext cx="9394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/>
              <a:t>Kod çıktısı, örnekte elde ettiğimiz </a:t>
            </a:r>
            <a:r>
              <a:rPr lang="tr-TR" sz="2800" b="1" dirty="0" err="1"/>
              <a:t>State</a:t>
            </a:r>
            <a:r>
              <a:rPr lang="tr-TR" sz="2800" b="1" dirty="0"/>
              <a:t>’ ile aynıdır</a:t>
            </a:r>
            <a:r>
              <a:rPr lang="tr-TR" b="1" dirty="0"/>
              <a:t>.</a:t>
            </a:r>
          </a:p>
        </p:txBody>
      </p:sp>
      <p:pic>
        <p:nvPicPr>
          <p:cNvPr id="16" name="Resim 15" descr="metin, ekran görüntüsü, yazı tipi, tasarım içeren bir resim">
            <a:extLst>
              <a:ext uri="{FF2B5EF4-FFF2-40B4-BE49-F238E27FC236}">
                <a16:creationId xmlns:a16="http://schemas.microsoft.com/office/drawing/2014/main" id="{ECF7D130-3B40-5F05-36BB-5E1951C323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628" y="2356938"/>
            <a:ext cx="4814978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513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7C2D58-7E00-4EA5-0313-2D07A7052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Özet ve Sonuç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42F7E48E-CED4-ADFC-FE18-56F339C6BF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6143" y="1935921"/>
            <a:ext cx="1154835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AddRoundKey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⊕ 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RoundKey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işlemidir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(anahtarın veriye karıştığı adım).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Girdi: 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16 bayt 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16 bayt 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RoundKey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Çıktı: 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yeni 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’)</a:t>
            </a:r>
            <a:endParaRPr kumimoji="0" lang="tr-TR" altLang="tr-T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 turda 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farklı 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RoundKey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kullanıldığı için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veri her turda anahtara bağlı olarak değişir.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XOR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kendi tersidir: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⊕ 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RoundKey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⊕ 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RoundKey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tr-TR" altLang="tr-T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(geri alınabilir).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 örnek ve Python kodu aynı sonucu verdiği için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uygulama </a:t>
            </a:r>
            <a:r>
              <a:rPr kumimoji="0" lang="tr-TR" altLang="tr-T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doğrulanmıştır</a:t>
            </a:r>
            <a:r>
              <a:rPr kumimoji="0" lang="tr-TR" altLang="tr-T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0245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888EECF-8C1E-8000-FF2F-2E2D02B5B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noProof="1"/>
              <a:t>KAYNAKÇA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B14AB1-6C2C-B1DF-1956-27A4812D37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1725941"/>
            <a:ext cx="11463331" cy="4435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tr-TR" sz="2800" b="1" dirty="0"/>
              <a:t>Birincil Kaynaklar (ders + standart)</a:t>
            </a:r>
            <a:endParaRPr lang="tr-TR" sz="2800" dirty="0"/>
          </a:p>
          <a:p>
            <a:r>
              <a:rPr lang="tr-TR" sz="2800" dirty="0"/>
              <a:t>Ders notları: </a:t>
            </a:r>
            <a:r>
              <a:rPr lang="tr-TR" sz="2800" b="1" dirty="0" err="1"/>
              <a:t>Chapter</a:t>
            </a:r>
            <a:r>
              <a:rPr lang="tr-TR" sz="2800" b="1" dirty="0"/>
              <a:t> 4 (</a:t>
            </a:r>
            <a:r>
              <a:rPr lang="tr-TR" sz="2800" b="1" dirty="0" err="1"/>
              <a:t>AES</a:t>
            </a:r>
            <a:r>
              <a:rPr lang="tr-TR" sz="2800" b="1" dirty="0"/>
              <a:t> bölümü)</a:t>
            </a:r>
            <a:endParaRPr lang="tr-TR" sz="2800" dirty="0"/>
          </a:p>
          <a:p>
            <a:pPr marL="0" indent="0">
              <a:buNone/>
            </a:pPr>
            <a:r>
              <a:rPr lang="tr-TR" sz="2800" b="1" dirty="0"/>
              <a:t>Yardımcı Kaynaklar / Araçlar</a:t>
            </a:r>
            <a:endParaRPr lang="tr-TR" sz="2800" dirty="0"/>
          </a:p>
          <a:p>
            <a:r>
              <a:rPr lang="tr-TR" sz="2800" b="1" dirty="0"/>
              <a:t>Python dokümantasyonu</a:t>
            </a:r>
          </a:p>
          <a:p>
            <a:pPr marL="0" indent="0">
              <a:buNone/>
            </a:pPr>
            <a:r>
              <a:rPr lang="tr-TR" sz="2800" dirty="0"/>
              <a:t> (</a:t>
            </a:r>
            <a:r>
              <a:rPr lang="tr-TR" sz="2800" dirty="0" err="1"/>
              <a:t>bytes.fromhex</a:t>
            </a:r>
            <a:r>
              <a:rPr lang="tr-TR" sz="2800" dirty="0"/>
              <a:t>, </a:t>
            </a:r>
            <a:r>
              <a:rPr lang="tr-TR" sz="2800" dirty="0" err="1"/>
              <a:t>XOR</a:t>
            </a:r>
            <a:r>
              <a:rPr lang="tr-TR" sz="2800" dirty="0"/>
              <a:t> </a:t>
            </a:r>
            <a:r>
              <a:rPr lang="tr-TR" dirty="0"/>
              <a:t>^</a:t>
            </a:r>
            <a:r>
              <a:rPr lang="tr-TR" sz="2800" dirty="0"/>
              <a:t>, </a:t>
            </a:r>
            <a:r>
              <a:rPr lang="tr-TR" sz="2800" dirty="0" err="1"/>
              <a:t>zip</a:t>
            </a:r>
            <a:r>
              <a:rPr lang="tr-TR" sz="2800" dirty="0"/>
              <a:t> kullanımı)</a:t>
            </a:r>
          </a:p>
          <a:p>
            <a:r>
              <a:rPr lang="tr-TR" sz="2800" b="1" dirty="0"/>
              <a:t>Online Python Compiler</a:t>
            </a:r>
            <a:r>
              <a:rPr lang="tr-TR" sz="2800" dirty="0"/>
              <a:t> (kod çalıştırma ve çıktı alma)</a:t>
            </a:r>
          </a:p>
          <a:p>
            <a:r>
              <a:rPr lang="tr-TR" sz="2800" b="1" dirty="0" err="1"/>
              <a:t>ChatGPT</a:t>
            </a:r>
            <a:r>
              <a:rPr lang="tr-TR" sz="2800" b="1" dirty="0"/>
              <a:t> (</a:t>
            </a:r>
            <a:r>
              <a:rPr lang="tr-TR" sz="2800" b="1" dirty="0" err="1"/>
              <a:t>LLM</a:t>
            </a:r>
            <a:r>
              <a:rPr lang="tr-TR" sz="2800" b="1" dirty="0"/>
              <a:t>)</a:t>
            </a:r>
            <a:r>
              <a:rPr lang="tr-TR" sz="2800" dirty="0"/>
              <a:t> — slayt metnini sadeleştirme ve örnek kod taslağı</a:t>
            </a:r>
          </a:p>
        </p:txBody>
      </p:sp>
    </p:spTree>
    <p:extLst>
      <p:ext uri="{BB962C8B-B14F-4D97-AF65-F5344CB8AC3E}">
        <p14:creationId xmlns:p14="http://schemas.microsoft.com/office/powerpoint/2010/main" val="23100635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Words>683</Words>
  <Application>Microsoft Office PowerPoint</Application>
  <PresentationFormat>Geniş ekran</PresentationFormat>
  <Paragraphs>79</Paragraphs>
  <Slides>11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7" baseType="lpstr">
      <vt:lpstr>Arial Unicode MS</vt:lpstr>
      <vt:lpstr>Aptos</vt:lpstr>
      <vt:lpstr>Arial</vt:lpstr>
      <vt:lpstr>Bookman Old Style</vt:lpstr>
      <vt:lpstr>Rockwell</vt:lpstr>
      <vt:lpstr>Damask</vt:lpstr>
      <vt:lpstr>AES AddRoundKey İşleminin Uygulanması</vt:lpstr>
      <vt:lpstr>Amaç ve İçerik Akışı</vt:lpstr>
      <vt:lpstr>AES’in Blok Şifreleme Mantığı  (128-bit / 16 bayt blok)</vt:lpstr>
      <vt:lpstr>PowerPoint Sunusu</vt:lpstr>
      <vt:lpstr>AES’te Veri Yapısı: State (4×4 Bayt)</vt:lpstr>
      <vt:lpstr>XOR (⊕) İşlemi: En Temel Mantık</vt:lpstr>
      <vt:lpstr>AddRoundKey İşlemi  (State ⊕ RoundKey)</vt:lpstr>
      <vt:lpstr>Mini Örnek: 3 Adımda Hesaplama</vt:lpstr>
      <vt:lpstr>Kısa Python Kod Gösterimi</vt:lpstr>
      <vt:lpstr>Özet ve Sonuç</vt:lpstr>
      <vt:lpstr>KAYNAKÇA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MUHİDDİN TALHA YILMAZ</dc:creator>
  <cp:lastModifiedBy>MUHİDDİN TALHA YILMAZ</cp:lastModifiedBy>
  <cp:revision>4</cp:revision>
  <dcterms:created xsi:type="dcterms:W3CDTF">2026-01-31T15:46:49Z</dcterms:created>
  <dcterms:modified xsi:type="dcterms:W3CDTF">2026-02-01T10:53:15Z</dcterms:modified>
</cp:coreProperties>
</file>